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/>
    <a:lvl1pPr marL="0" indent="0"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1" snapToObjects="1">
      <p:guideLst/>
    </p:cSldViewPr>
  </p:slideViewPr>
  <p:notesTextViewPr>
    <p:cViewPr varScale="1">
      <p:scale sx="100" sy="100"/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>
      <a:lvl1pPr marL="0" indent="0">
        <a:defRPr sz="2800" b="1"/>
      </a:lvl1pPr>
    </p:titleStyle>
    <p:bodyStyle>
      <a:lvl1pPr marL="0" indent="0">
        <a:defRPr sz="1800"/>
      </a:lvl1pPr>
    </p:bodyStyle>
    <p:otherStyle>
      <a:defPPr/>
      <a:lvl1pPr marL="0" indent="0"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DA-TDP Agent Archit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txBody>
          <a:bodyPr wrap="square" lIns="152400" tIns="91440" rIns="152400" bIns="91440" anchor="ctr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66928" y="384048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/>
            <a:r>
              <a:rPr lang="zh-CN" sz="2800" b="1">
                <a:solidFill>
                  <a:srgbClr val="FFFFFF"/>
                </a:solidFill>
                <a:latin typeface="Aptos"/>
                <a:ea typeface="Microsoft YaHei"/>
                <a:cs typeface="Arial"/>
              </a:rPr>
              <a:t>TDA-TDP Agent Architecture / 当前版分层方案</a:t>
            </a:r>
            <a:endParaRPr lang="zh-CN" sz="2800"/>
          </a:p>
        </p:txBody>
      </p:sp>
      <p:sp>
        <p:nvSpPr>
          <p:cNvPr id="4" name="Subtitle"/>
          <p:cNvSpPr txBox="1"/>
          <p:nvPr/>
        </p:nvSpPr>
        <p:spPr>
          <a:xfrm>
            <a:off x="585216" y="841248"/>
            <a:ext cx="93268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/>
            <a:r>
              <a:rPr lang="zh-CN" sz="1250">
                <a:solidFill>
                  <a:srgbClr val="C7D2DB"/>
                </a:solidFill>
                <a:latin typeface="Aptos"/>
                <a:ea typeface="Microsoft YaHei"/>
                <a:cs typeface="Arial"/>
              </a:rPr>
              <a:t>Semantic-first · LLM Understanding · Planner / Executor / Reviewer Orchestration</a:t>
            </a:r>
            <a:endParaRPr lang="zh-CN" sz="1250"/>
          </a:p>
        </p:txBody>
      </p:sp>
      <p:sp>
        <p:nvSpPr>
          <p:cNvPr id="5" name="AccentLine"/>
          <p:cNvSpPr/>
          <p:nvPr/>
        </p:nvSpPr>
        <p:spPr>
          <a:xfrm>
            <a:off x="585216" y="1170432"/>
            <a:ext cx="132588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wrap="square" lIns="152400" tIns="91440" rIns="152400" bIns="91440" anchor="ctr"/>
          <a:lstStyle/>
          <a:p/>
        </p:txBody>
      </p:sp>
      <p:sp>
        <p:nvSpPr>
          <p:cNvPr id="6" name="LeftPanel"/>
          <p:cNvSpPr/>
          <p:nvPr/>
        </p:nvSpPr>
        <p:spPr>
          <a:xfrm>
            <a:off x="512064" y="1371600"/>
            <a:ext cx="5010912" cy="4901184"/>
          </a:xfrm>
          <a:prstGeom prst="roundRect">
            <a:avLst/>
          </a:prstGeom>
          <a:solidFill>
            <a:srgbClr val="162635"/>
          </a:solidFill>
          <a:ln w="19050">
            <a:solidFill>
              <a:srgbClr val="294255"/>
            </a:solidFill>
          </a:ln>
        </p:spPr>
        <p:txBody>
          <a:bodyPr wrap="square" lIns="152400" tIns="91440" rIns="152400" bIns="91440" anchor="ctr"/>
          <a:lstStyle/>
          <a:p/>
        </p:txBody>
      </p:sp>
      <p:sp>
        <p:nvSpPr>
          <p:cNvPr id="7" name="RightPanel"/>
          <p:cNvSpPr/>
          <p:nvPr/>
        </p:nvSpPr>
        <p:spPr>
          <a:xfrm>
            <a:off x="5715000" y="1371600"/>
            <a:ext cx="5961888" cy="4901184"/>
          </a:xfrm>
          <a:prstGeom prst="roundRect">
            <a:avLst/>
          </a:prstGeom>
          <a:solidFill>
            <a:srgbClr val="162635"/>
          </a:solidFill>
          <a:ln w="19050">
            <a:solidFill>
              <a:srgbClr val="294255"/>
            </a:solidFill>
          </a:ln>
        </p:spPr>
        <p:txBody>
          <a:bodyPr wrap="square" lIns="152400" tIns="91440" rIns="152400" bIns="91440" anchor="ctr"/>
          <a:lstStyle/>
          <a:p/>
        </p:txBody>
      </p:sp>
      <p:sp>
        <p:nvSpPr>
          <p:cNvPr id="8" name="LeftHeader"/>
          <p:cNvSpPr txBox="1"/>
          <p:nvPr/>
        </p:nvSpPr>
        <p:spPr>
          <a:xfrm>
            <a:off x="768096" y="157276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/>
            <a:r>
              <a:rPr lang="zh-CN" sz="1650" b="1">
                <a:solidFill>
                  <a:srgbClr val="F9FAFB"/>
                </a:solidFill>
                <a:latin typeface="Aptos"/>
                <a:ea typeface="Microsoft YaHei"/>
                <a:cs typeface="Arial"/>
              </a:rPr>
              <a:t>Layered Architecture / 分层结构</a:t>
            </a:r>
            <a:endParaRPr lang="zh-CN" sz="1650"/>
          </a:p>
        </p:txBody>
      </p:sp>
      <p:sp>
        <p:nvSpPr>
          <p:cNvPr id="9" name="RightHeader"/>
          <p:cNvSpPr txBox="1"/>
          <p:nvPr/>
        </p:nvSpPr>
        <p:spPr>
          <a:xfrm>
            <a:off x="5980176" y="1572768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 marL="0" indent="0"/>
            <a:r>
              <a:rPr lang="zh-CN" sz="1650" b="1">
                <a:solidFill>
                  <a:srgbClr val="F9FAFB"/>
                </a:solidFill>
                <a:latin typeface="Aptos"/>
                <a:ea typeface="Microsoft YaHei"/>
                <a:cs typeface="Arial"/>
              </a:rPr>
              <a:t>Run Flow / Agent 运行流程</a:t>
            </a:r>
            <a:endParaRPr lang="zh-CN" sz="1650"/>
          </a:p>
        </p:txBody>
      </p:sp>
      <p:sp>
        <p:nvSpPr>
          <p:cNvPr id="10" name="Interface &amp; Orchestration / 接入与编排"/>
          <p:cNvSpPr/>
          <p:nvPr/>
        </p:nvSpPr>
        <p:spPr>
          <a:xfrm>
            <a:off x="768096" y="1901952"/>
            <a:ext cx="4498848" cy="768096"/>
          </a:xfrm>
          <a:prstGeom prst="roundRect">
            <a:avLst/>
          </a:prstGeom>
          <a:solidFill>
            <a:srgbClr val="243E5A"/>
          </a:solidFill>
          <a:ln w="12700">
            <a:solidFill>
              <a:srgbClr val="7FA8D6"/>
            </a:solidFill>
          </a:ln>
        </p:spPr>
        <p:txBody>
          <a:bodyPr wrap="square" lIns="152400" tIns="91440" rIns="152400" bIns="91440" anchor="ctr"/>
          <a:lstStyle/>
          <a:p>
            <a:pPr algn="l" marL="0" indent="0"/>
            <a:r>
              <a:rPr lang="zh-CN" sz="1500" b="1">
                <a:solidFill>
                  <a:srgbClr val="FFFFFF"/>
                </a:solidFill>
                <a:latin typeface="Aptos"/>
                <a:ea typeface="Microsoft YaHei"/>
                <a:cs typeface="Arial"/>
              </a:rPr>
              <a:t>Interface &amp; Orchestration / 接入与编排</a:t>
            </a:r>
            <a:endParaRPr lang="zh-CN" sz="1500"/>
          </a:p>
          <a:p>
            <a:pPr algn="l" marL="0" indent="0"/>
            <a:r>
              <a:rPr lang="zh-CN" sz="1040">
                <a:solidFill>
                  <a:srgbClr val="DCE5EC"/>
                </a:solidFill>
                <a:latin typeface="Aptos"/>
                <a:ea typeface="Microsoft YaHei"/>
                <a:cs typeface="Arial"/>
              </a:rPr>
              <a:t>ChatView · WebSocket · chat_v3 · MultiAgentOrchestrator</a:t>
            </a:r>
            <a:endParaRPr lang="zh-CN" sz="1040"/>
          </a:p>
        </p:txBody>
      </p:sp>
      <p:sp>
        <p:nvSpPr>
          <p:cNvPr id="11" name="Understanding &amp; Planning / 智能理解与规划"/>
          <p:cNvSpPr/>
          <p:nvPr/>
        </p:nvSpPr>
        <p:spPr>
          <a:xfrm>
            <a:off x="768096" y="2907792"/>
            <a:ext cx="4498848" cy="768096"/>
          </a:xfrm>
          <a:prstGeom prst="roundRect">
            <a:avLst/>
          </a:prstGeom>
          <a:solidFill>
            <a:srgbClr val="175965"/>
          </a:solidFill>
          <a:ln w="12700">
            <a:solidFill>
              <a:srgbClr val="67C5C5"/>
            </a:solidFill>
          </a:ln>
        </p:spPr>
        <p:txBody>
          <a:bodyPr wrap="square" lIns="152400" tIns="91440" rIns="152400" bIns="91440" anchor="ctr"/>
          <a:lstStyle/>
          <a:p>
            <a:pPr algn="l" marL="0" indent="0"/>
            <a:r>
              <a:rPr lang="zh-CN" sz="1500" b="1">
                <a:solidFill>
                  <a:srgbClr val="FFFFFF"/>
                </a:solidFill>
                <a:latin typeface="Aptos"/>
                <a:ea typeface="Microsoft YaHei"/>
                <a:cs typeface="Arial"/>
              </a:rPr>
              <a:t>Understanding &amp; Planning / 智能理解与规划</a:t>
            </a:r>
            <a:endParaRPr lang="zh-CN" sz="1500"/>
          </a:p>
          <a:p>
            <a:pPr algn="l" marL="0" indent="0"/>
            <a:r>
              <a:rPr lang="zh-CN" sz="1040">
                <a:solidFill>
                  <a:srgbClr val="DCE5EC"/>
                </a:solidFill>
                <a:latin typeface="Aptos"/>
                <a:ea typeface="Microsoft YaHei"/>
                <a:cs typeface="Arial"/>
              </a:rPr>
              <a:t>Semantic Grounding · Understanding Agent · Runtime Context · Planner</a:t>
            </a:r>
            <a:endParaRPr lang="zh-CN" sz="1040"/>
          </a:p>
        </p:txBody>
      </p:sp>
      <p:sp>
        <p:nvSpPr>
          <p:cNvPr id="12" name="Execution &amp; Review / 执行与审查"/>
          <p:cNvSpPr/>
          <p:nvPr/>
        </p:nvSpPr>
        <p:spPr>
          <a:xfrm>
            <a:off x="768096" y="3913632"/>
            <a:ext cx="4498848" cy="768096"/>
          </a:xfrm>
          <a:prstGeom prst="roundRect">
            <a:avLst/>
          </a:prstGeom>
          <a:solidFill>
            <a:srgbClr val="6C4322"/>
          </a:solidFill>
          <a:ln w="12700">
            <a:solidFill>
              <a:srgbClr val="F3A261"/>
            </a:solidFill>
          </a:ln>
        </p:spPr>
        <p:txBody>
          <a:bodyPr wrap="square" lIns="152400" tIns="91440" rIns="152400" bIns="91440" anchor="ctr"/>
          <a:lstStyle/>
          <a:p>
            <a:pPr algn="l" marL="0" indent="0"/>
            <a:r>
              <a:rPr lang="zh-CN" sz="1500" b="1">
                <a:solidFill>
                  <a:srgbClr val="FFFFFF"/>
                </a:solidFill>
                <a:latin typeface="Aptos"/>
                <a:ea typeface="Microsoft YaHei"/>
                <a:cs typeface="Arial"/>
              </a:rPr>
              <a:t>Execution &amp; Review / 执行与审查</a:t>
            </a:r>
            <a:endParaRPr lang="zh-CN" sz="1500"/>
          </a:p>
          <a:p>
            <a:pPr algn="l" marL="0" indent="0"/>
            <a:r>
              <a:rPr lang="zh-CN" sz="1040">
                <a:solidFill>
                  <a:srgbClr val="DCE5EC"/>
                </a:solidFill>
                <a:latin typeface="Aptos"/>
                <a:ea typeface="Microsoft YaHei"/>
                <a:cs typeface="Arial"/>
              </a:rPr>
              <a:t>Executor · semantic_query first · SQL fallback · Reviewer · Replan</a:t>
            </a:r>
            <a:endParaRPr lang="zh-CN" sz="1040"/>
          </a:p>
        </p:txBody>
      </p:sp>
      <p:sp>
        <p:nvSpPr>
          <p:cNvPr id="13" name="Semantic Model &amp; Data Assets / 语义模型与数据资产"/>
          <p:cNvSpPr/>
          <p:nvPr/>
        </p:nvSpPr>
        <p:spPr>
          <a:xfrm>
            <a:off x="768096" y="4919472"/>
            <a:ext cx="4498848" cy="768096"/>
          </a:xfrm>
          <a:prstGeom prst="roundRect">
            <a:avLst/>
          </a:prstGeom>
          <a:solidFill>
            <a:srgbClr val="2A3948"/>
          </a:solidFill>
          <a:ln w="12700">
            <a:solidFill>
              <a:srgbClr val="A6B3C2"/>
            </a:solidFill>
          </a:ln>
        </p:spPr>
        <p:txBody>
          <a:bodyPr wrap="square" lIns="152400" tIns="91440" rIns="152400" bIns="91440" anchor="ctr"/>
          <a:lstStyle/>
          <a:p>
            <a:pPr algn="l" marL="0" indent="0"/>
            <a:r>
              <a:rPr lang="zh-CN" sz="1500" b="1">
                <a:solidFill>
                  <a:srgbClr val="FFFFFF"/>
                </a:solidFill>
                <a:latin typeface="Aptos"/>
                <a:ea typeface="Microsoft YaHei"/>
                <a:cs typeface="Arial"/>
              </a:rPr>
              <a:t>Semantic Model &amp; Data Assets / 语义模型与数据资产</a:t>
            </a:r>
            <a:endParaRPr lang="zh-CN" sz="1500"/>
          </a:p>
          <a:p>
            <a:pPr algn="l" marL="0" indent="0"/>
            <a:r>
              <a:rPr lang="zh-CN" sz="1040">
                <a:solidFill>
                  <a:srgbClr val="DCE5EC"/>
                </a:solidFill>
                <a:latin typeface="Aptos"/>
                <a:ea typeface="Microsoft YaHei"/>
                <a:cs typeface="Arial"/>
              </a:rPr>
              <a:t>YAML semantics · metrics / dimensions · metadata · 28 tables · tools</a:t>
            </a:r>
            <a:endParaRPr lang="zh-CN" sz="1040"/>
          </a:p>
        </p:txBody>
      </p:sp>
      <p:sp>
        <p:nvSpPr>
          <p:cNvPr id="14" name="Flow1"/>
          <p:cNvSpPr/>
          <p:nvPr/>
        </p:nvSpPr>
        <p:spPr>
          <a:xfrm>
            <a:off x="5989320" y="1847088"/>
            <a:ext cx="5394960" cy="420624"/>
          </a:xfrm>
          <a:prstGeom prst="roundRect">
            <a:avLst/>
          </a:prstGeom>
          <a:solidFill>
            <a:srgbClr val="203544"/>
          </a:solidFill>
          <a:ln w="12700">
            <a:solidFill>
              <a:srgbClr val="7FA8D6"/>
            </a:solidFill>
          </a:ln>
        </p:spPr>
        <p:txBody>
          <a:bodyPr wrap="square" lIns="152400" tIns="91440" rIns="152400" bIns="91440" anchor="ctr"/>
          <a:lstStyle/>
          <a:p>
            <a:pPr algn="ctr" marL="0" indent="0"/>
            <a:r>
              <a:rPr lang="zh-CN" sz="1150" b="1">
                <a:solidFill>
                  <a:srgbClr val="FFFFFF"/>
                </a:solidFill>
                <a:latin typeface="Aptos"/>
                <a:ea typeface="Microsoft YaHei"/>
                <a:cs typeface="Arial"/>
              </a:rPr>
              <a:t>1 Semantic Asset Retrieval / 召回候选语义资产</a:t>
            </a:r>
            <a:endParaRPr lang="zh-CN" sz="1150"/>
          </a:p>
        </p:txBody>
      </p:sp>
      <p:sp>
        <p:nvSpPr>
          <p:cNvPr id="15" name="Arrow1"/>
          <p:cNvSpPr txBox="1"/>
          <p:nvPr/>
        </p:nvSpPr>
        <p:spPr>
          <a:xfrm>
            <a:off x="8430768" y="2286000"/>
            <a:ext cx="45720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 marL="0" indent="0"/>
            <a:r>
              <a:rPr lang="zh-CN" sz="1600" b="1">
                <a:solidFill>
                  <a:srgbClr val="C7D2DB"/>
                </a:solidFill>
                <a:latin typeface="Aptos"/>
                <a:ea typeface="Microsoft YaHei"/>
                <a:cs typeface="Arial"/>
              </a:rPr>
              <a:t>↓</a:t>
            </a:r>
            <a:endParaRPr lang="zh-CN" sz="1600"/>
          </a:p>
        </p:txBody>
      </p:sp>
      <p:sp>
        <p:nvSpPr>
          <p:cNvPr id="16" name="Flow2"/>
          <p:cNvSpPr/>
          <p:nvPr/>
        </p:nvSpPr>
        <p:spPr>
          <a:xfrm>
            <a:off x="5989320" y="2340864"/>
            <a:ext cx="5394960" cy="420624"/>
          </a:xfrm>
          <a:prstGeom prst="roundRect">
            <a:avLst/>
          </a:prstGeom>
          <a:solidFill>
            <a:srgbClr val="174A58"/>
          </a:solidFill>
          <a:ln w="12700">
            <a:solidFill>
              <a:srgbClr val="67C5C5"/>
            </a:solidFill>
          </a:ln>
        </p:spPr>
        <p:txBody>
          <a:bodyPr wrap="square" lIns="152400" tIns="91440" rIns="152400" bIns="91440" anchor="ctr"/>
          <a:lstStyle/>
          <a:p>
            <a:pPr algn="ctr" marL="0" indent="0"/>
            <a:r>
              <a:rPr lang="zh-CN" sz="1150" b="1">
                <a:solidFill>
                  <a:srgbClr val="FFFFFF"/>
                </a:solidFill>
                <a:latin typeface="Aptos"/>
                <a:ea typeface="Microsoft YaHei"/>
                <a:cs typeface="Arial"/>
              </a:rPr>
              <a:t>2 Understanding Layer / 结构化业务意图</a:t>
            </a:r>
            <a:endParaRPr lang="zh-CN" sz="1150"/>
          </a:p>
        </p:txBody>
      </p:sp>
      <p:sp>
        <p:nvSpPr>
          <p:cNvPr id="17" name="Arrow2"/>
          <p:cNvSpPr txBox="1"/>
          <p:nvPr/>
        </p:nvSpPr>
        <p:spPr>
          <a:xfrm>
            <a:off x="8430768" y="2779776"/>
            <a:ext cx="45720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 marL="0" indent="0"/>
            <a:r>
              <a:rPr lang="zh-CN" sz="1600" b="1">
                <a:solidFill>
                  <a:srgbClr val="C7D2DB"/>
                </a:solidFill>
                <a:latin typeface="Aptos"/>
                <a:ea typeface="Microsoft YaHei"/>
                <a:cs typeface="Arial"/>
              </a:rPr>
              <a:t>↓</a:t>
            </a:r>
            <a:endParaRPr lang="zh-CN" sz="1600"/>
          </a:p>
        </p:txBody>
      </p:sp>
      <p:sp>
        <p:nvSpPr>
          <p:cNvPr id="18" name="Flow3"/>
          <p:cNvSpPr/>
          <p:nvPr/>
        </p:nvSpPr>
        <p:spPr>
          <a:xfrm>
            <a:off x="5989320" y="2834640"/>
            <a:ext cx="5394960" cy="420624"/>
          </a:xfrm>
          <a:prstGeom prst="roundRect">
            <a:avLst/>
          </a:prstGeom>
          <a:solidFill>
            <a:srgbClr val="1E3B46"/>
          </a:solidFill>
          <a:ln w="12700">
            <a:solidFill>
              <a:srgbClr val="8FC3B2"/>
            </a:solidFill>
          </a:ln>
        </p:spPr>
        <p:txBody>
          <a:bodyPr wrap="square" lIns="152400" tIns="91440" rIns="152400" bIns="91440" anchor="ctr"/>
          <a:lstStyle/>
          <a:p>
            <a:pPr algn="ctr" marL="0" indent="0"/>
            <a:r>
              <a:rPr lang="zh-CN" sz="1150" b="1">
                <a:solidFill>
                  <a:srgbClr val="FFFFFF"/>
                </a:solidFill>
                <a:latin typeface="Aptos"/>
                <a:ea typeface="Microsoft YaHei"/>
                <a:cs typeface="Arial"/>
              </a:rPr>
              <a:t>3 Runtime Context / 约束与校验</a:t>
            </a:r>
            <a:endParaRPr lang="zh-CN" sz="1150"/>
          </a:p>
        </p:txBody>
      </p:sp>
      <p:sp>
        <p:nvSpPr>
          <p:cNvPr id="19" name="Arrow3"/>
          <p:cNvSpPr txBox="1"/>
          <p:nvPr/>
        </p:nvSpPr>
        <p:spPr>
          <a:xfrm>
            <a:off x="8430768" y="3273552"/>
            <a:ext cx="45720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 marL="0" indent="0"/>
            <a:r>
              <a:rPr lang="zh-CN" sz="1600" b="1">
                <a:solidFill>
                  <a:srgbClr val="C7D2DB"/>
                </a:solidFill>
                <a:latin typeface="Aptos"/>
                <a:ea typeface="Microsoft YaHei"/>
                <a:cs typeface="Arial"/>
              </a:rPr>
              <a:t>↓</a:t>
            </a:r>
            <a:endParaRPr lang="zh-CN" sz="1600"/>
          </a:p>
        </p:txBody>
      </p:sp>
      <p:sp>
        <p:nvSpPr>
          <p:cNvPr id="20" name="Flow4"/>
          <p:cNvSpPr/>
          <p:nvPr/>
        </p:nvSpPr>
        <p:spPr>
          <a:xfrm>
            <a:off x="5989320" y="3328416"/>
            <a:ext cx="5394960" cy="420624"/>
          </a:xfrm>
          <a:prstGeom prst="roundRect">
            <a:avLst/>
          </a:prstGeom>
          <a:solidFill>
            <a:srgbClr val="4D3B23"/>
          </a:solidFill>
          <a:ln w="12700">
            <a:solidFill>
              <a:srgbClr val="F3A261"/>
            </a:solidFill>
          </a:ln>
        </p:spPr>
        <p:txBody>
          <a:bodyPr wrap="square" lIns="152400" tIns="91440" rIns="152400" bIns="91440" anchor="ctr"/>
          <a:lstStyle/>
          <a:p>
            <a:pPr algn="ctr" marL="0" indent="0"/>
            <a:r>
              <a:rPr lang="zh-CN" sz="1150" b="1">
                <a:solidFill>
                  <a:srgbClr val="FFFFFF"/>
                </a:solidFill>
                <a:latin typeface="Aptos"/>
                <a:ea typeface="Microsoft YaHei"/>
                <a:cs typeface="Arial"/>
              </a:rPr>
              <a:t>4 Planner / 生成带 semantic binding 的计划</a:t>
            </a:r>
            <a:endParaRPr lang="zh-CN" sz="1150"/>
          </a:p>
        </p:txBody>
      </p:sp>
      <p:sp>
        <p:nvSpPr>
          <p:cNvPr id="21" name="Arrow4"/>
          <p:cNvSpPr txBox="1"/>
          <p:nvPr/>
        </p:nvSpPr>
        <p:spPr>
          <a:xfrm>
            <a:off x="8430768" y="3767328"/>
            <a:ext cx="45720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 marL="0" indent="0"/>
            <a:r>
              <a:rPr lang="zh-CN" sz="1600" b="1">
                <a:solidFill>
                  <a:srgbClr val="C7D2DB"/>
                </a:solidFill>
                <a:latin typeface="Aptos"/>
                <a:ea typeface="Microsoft YaHei"/>
                <a:cs typeface="Arial"/>
              </a:rPr>
              <a:t>↓</a:t>
            </a:r>
            <a:endParaRPr lang="zh-CN" sz="1600"/>
          </a:p>
        </p:txBody>
      </p:sp>
      <p:sp>
        <p:nvSpPr>
          <p:cNvPr id="22" name="Flow5"/>
          <p:cNvSpPr/>
          <p:nvPr/>
        </p:nvSpPr>
        <p:spPr>
          <a:xfrm>
            <a:off x="5989320" y="3822191"/>
            <a:ext cx="5394960" cy="420624"/>
          </a:xfrm>
          <a:prstGeom prst="roundRect">
            <a:avLst/>
          </a:prstGeom>
          <a:solidFill>
            <a:srgbClr val="4A2F24"/>
          </a:solidFill>
          <a:ln w="12700">
            <a:solidFill>
              <a:srgbClr val="E59472"/>
            </a:solidFill>
          </a:ln>
        </p:spPr>
        <p:txBody>
          <a:bodyPr wrap="square" lIns="152400" tIns="91440" rIns="152400" bIns="91440" anchor="ctr"/>
          <a:lstStyle/>
          <a:p>
            <a:pPr algn="ctr" marL="0" indent="0"/>
            <a:r>
              <a:rPr lang="zh-CN" sz="1150" b="1">
                <a:solidFill>
                  <a:srgbClr val="FFFFFF"/>
                </a:solidFill>
                <a:latin typeface="Aptos"/>
                <a:ea typeface="Microsoft YaHei"/>
                <a:cs typeface="Arial"/>
              </a:rPr>
              <a:t>5 Executor / 优先 semantic_query，必要时 SQL</a:t>
            </a:r>
            <a:endParaRPr lang="zh-CN" sz="1150"/>
          </a:p>
        </p:txBody>
      </p:sp>
      <p:sp>
        <p:nvSpPr>
          <p:cNvPr id="23" name="Arrow5"/>
          <p:cNvSpPr txBox="1"/>
          <p:nvPr/>
        </p:nvSpPr>
        <p:spPr>
          <a:xfrm>
            <a:off x="8430768" y="4261104"/>
            <a:ext cx="45720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 marL="0" indent="0"/>
            <a:r>
              <a:rPr lang="zh-CN" sz="1600" b="1">
                <a:solidFill>
                  <a:srgbClr val="C7D2DB"/>
                </a:solidFill>
                <a:latin typeface="Aptos"/>
                <a:ea typeface="Microsoft YaHei"/>
                <a:cs typeface="Arial"/>
              </a:rPr>
              <a:t>↓</a:t>
            </a:r>
            <a:endParaRPr lang="zh-CN" sz="1600"/>
          </a:p>
        </p:txBody>
      </p:sp>
      <p:sp>
        <p:nvSpPr>
          <p:cNvPr id="24" name="Flow6"/>
          <p:cNvSpPr/>
          <p:nvPr/>
        </p:nvSpPr>
        <p:spPr>
          <a:xfrm>
            <a:off x="5989320" y="4315968"/>
            <a:ext cx="5394960" cy="420624"/>
          </a:xfrm>
          <a:prstGeom prst="roundRect">
            <a:avLst/>
          </a:prstGeom>
          <a:solidFill>
            <a:srgbClr val="2A3948"/>
          </a:solidFill>
          <a:ln w="12700">
            <a:solidFill>
              <a:srgbClr val="A6B3C2"/>
            </a:solidFill>
          </a:ln>
        </p:spPr>
        <p:txBody>
          <a:bodyPr wrap="square" lIns="152400" tIns="91440" rIns="152400" bIns="91440" anchor="ctr"/>
          <a:lstStyle/>
          <a:p>
            <a:pPr algn="ctr" marL="0" indent="0"/>
            <a:r>
              <a:rPr lang="zh-CN" sz="1150" b="1">
                <a:solidFill>
                  <a:srgbClr val="FFFFFF"/>
                </a:solidFill>
                <a:latin typeface="Aptos"/>
                <a:ea typeface="Microsoft YaHei"/>
                <a:cs typeface="Arial"/>
              </a:rPr>
              <a:t>6 Reviewer / 审查证据并可触发 replan</a:t>
            </a:r>
            <a:endParaRPr lang="zh-CN" sz="1150"/>
          </a:p>
        </p:txBody>
      </p:sp>
      <p:sp>
        <p:nvSpPr>
          <p:cNvPr id="25" name="RelationshipNote"/>
          <p:cNvSpPr/>
          <p:nvPr/>
        </p:nvSpPr>
        <p:spPr>
          <a:xfrm>
            <a:off x="5989320" y="4956048"/>
            <a:ext cx="5394960" cy="987552"/>
          </a:xfrm>
          <a:prstGeom prst="roundRect">
            <a:avLst/>
          </a:prstGeom>
          <a:solidFill>
            <a:srgbClr val="111C26"/>
          </a:solidFill>
          <a:ln w="12700">
            <a:solidFill>
              <a:srgbClr val="375266"/>
            </a:solidFill>
          </a:ln>
        </p:spPr>
        <p:txBody>
          <a:bodyPr wrap="square" lIns="152400" tIns="91440" rIns="152400" bIns="91440" anchor="t"/>
          <a:lstStyle/>
          <a:p>
            <a:pPr algn="l" marL="0" indent="0"/>
            <a:r>
              <a:rPr lang="zh-CN" sz="1320" b="1">
                <a:solidFill>
                  <a:srgbClr val="F9FAFB"/>
                </a:solidFill>
                <a:latin typeface="Aptos"/>
                <a:ea typeface="Microsoft YaHei"/>
                <a:cs typeface="Arial"/>
              </a:rPr>
              <a:t>Key Relationships / 关键关系</a:t>
            </a:r>
            <a:endParaRPr lang="zh-CN" sz="1320"/>
          </a:p>
          <a:p>
            <a:pPr algn="l" marL="0" indent="0"/>
            <a:r>
              <a:rPr lang="zh-CN" sz="1000">
                <a:solidFill>
                  <a:srgbClr val="DDE6ED"/>
                </a:solidFill>
                <a:latin typeface="Aptos"/>
                <a:ea typeface="Microsoft YaHei"/>
                <a:cs typeface="Arial"/>
              </a:rPr>
              <a:t>• 语义模型 = business contract，不再只是可选 tool</a:t>
            </a:r>
            <a:endParaRPr lang="zh-CN" sz="1000"/>
          </a:p>
          <a:p>
            <a:pPr algn="l" marL="0" indent="0"/>
            <a:r>
              <a:rPr lang="zh-CN" sz="1000">
                <a:solidFill>
                  <a:srgbClr val="DDE6ED"/>
                </a:solidFill>
                <a:latin typeface="Aptos"/>
                <a:ea typeface="Microsoft YaHei"/>
                <a:cs typeface="Arial"/>
              </a:rPr>
              <a:t>• Planner 规划业务语义任务，Executor 执行事实取证</a:t>
            </a:r>
            <a:endParaRPr lang="zh-CN" sz="1000"/>
          </a:p>
          <a:p>
            <a:pPr algn="l" marL="0" indent="0"/>
            <a:r>
              <a:rPr lang="zh-CN" sz="1000">
                <a:solidFill>
                  <a:srgbClr val="DDE6ED"/>
                </a:solidFill>
                <a:latin typeface="Aptos"/>
                <a:ea typeface="Microsoft YaHei"/>
                <a:cs typeface="Arial"/>
              </a:rPr>
              <a:t>• 数据资产为理解层提供 grounding，Reviewer 保证准确率</a:t>
            </a:r>
            <a:endParaRPr lang="zh-CN" sz="1000"/>
          </a:p>
        </p:txBody>
      </p:sp>
      <p:sp>
        <p:nvSpPr>
          <p:cNvPr id="26" name="Semantic-first / 语义优先"/>
          <p:cNvSpPr/>
          <p:nvPr/>
        </p:nvSpPr>
        <p:spPr>
          <a:xfrm>
            <a:off x="749808" y="6400800"/>
            <a:ext cx="2999232" cy="310896"/>
          </a:xfrm>
          <a:prstGeom prst="roundRect">
            <a:avLst/>
          </a:prstGeom>
          <a:solidFill>
            <a:srgbClr val="163744"/>
          </a:solidFill>
          <a:ln w="12700">
            <a:solidFill>
              <a:srgbClr val="67C5C5"/>
            </a:solidFill>
          </a:ln>
        </p:spPr>
        <p:txBody>
          <a:bodyPr wrap="square" lIns="152400" tIns="91440" rIns="152400" bIns="91440" anchor="ctr"/>
          <a:lstStyle/>
          <a:p>
            <a:pPr algn="ctr" marL="0" indent="0"/>
            <a:r>
              <a:rPr lang="zh-CN" sz="980" b="1">
                <a:solidFill>
                  <a:srgbClr val="FFFFFF"/>
                </a:solidFill>
                <a:latin typeface="Aptos"/>
                <a:ea typeface="Microsoft YaHei"/>
                <a:cs typeface="Arial"/>
              </a:rPr>
              <a:t>Semantic-first / 语义优先</a:t>
            </a:r>
            <a:endParaRPr lang="zh-CN" sz="980"/>
          </a:p>
        </p:txBody>
      </p:sp>
      <p:sp>
        <p:nvSpPr>
          <p:cNvPr id="27" name="Grounded Planning / 有约束规划"/>
          <p:cNvSpPr/>
          <p:nvPr/>
        </p:nvSpPr>
        <p:spPr>
          <a:xfrm>
            <a:off x="4160520" y="6400800"/>
            <a:ext cx="2999232" cy="310896"/>
          </a:xfrm>
          <a:prstGeom prst="roundRect">
            <a:avLst/>
          </a:prstGeom>
          <a:solidFill>
            <a:srgbClr val="3E3320"/>
          </a:solidFill>
          <a:ln w="12700">
            <a:solidFill>
              <a:srgbClr val="F3A261"/>
            </a:solidFill>
          </a:ln>
        </p:spPr>
        <p:txBody>
          <a:bodyPr wrap="square" lIns="152400" tIns="91440" rIns="152400" bIns="91440" anchor="ctr"/>
          <a:lstStyle/>
          <a:p>
            <a:pPr algn="ctr" marL="0" indent="0"/>
            <a:r>
              <a:rPr lang="zh-CN" sz="980" b="1">
                <a:solidFill>
                  <a:srgbClr val="FFFFFF"/>
                </a:solidFill>
                <a:latin typeface="Aptos"/>
                <a:ea typeface="Microsoft YaHei"/>
                <a:cs typeface="Arial"/>
              </a:rPr>
              <a:t>Grounded Planning / 有约束规划</a:t>
            </a:r>
            <a:endParaRPr lang="zh-CN" sz="980"/>
          </a:p>
        </p:txBody>
      </p:sp>
      <p:sp>
        <p:nvSpPr>
          <p:cNvPr id="28" name="Evidence &amp; Replan / 证据与重规划"/>
          <p:cNvSpPr/>
          <p:nvPr/>
        </p:nvSpPr>
        <p:spPr>
          <a:xfrm>
            <a:off x="7827264" y="6400800"/>
            <a:ext cx="2999232" cy="310896"/>
          </a:xfrm>
          <a:prstGeom prst="roundRect">
            <a:avLst/>
          </a:prstGeom>
          <a:solidFill>
            <a:srgbClr val="2B3947"/>
          </a:solidFill>
          <a:ln w="12700">
            <a:solidFill>
              <a:srgbClr val="A6B3C2"/>
            </a:solidFill>
          </a:ln>
        </p:spPr>
        <p:txBody>
          <a:bodyPr wrap="square" lIns="152400" tIns="91440" rIns="152400" bIns="91440" anchor="ctr"/>
          <a:lstStyle/>
          <a:p>
            <a:pPr algn="ctr" marL="0" indent="0"/>
            <a:r>
              <a:rPr lang="zh-CN" sz="980" b="1">
                <a:solidFill>
                  <a:srgbClr val="FFFFFF"/>
                </a:solidFill>
                <a:latin typeface="Aptos"/>
                <a:ea typeface="Microsoft YaHei"/>
                <a:cs typeface="Arial"/>
              </a:rPr>
              <a:t>Evidence &amp; Replan / 证据与重规划</a:t>
            </a:r>
            <a:endParaRPr lang="zh-CN" sz="98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DA Theme">
  <a:themeElements>
    <a:clrScheme name="TDA Colors">
      <a:dk1>
        <a:srgbClr val="0F1720"/>
      </a:dk1>
      <a:lt1>
        <a:srgbClr val="FFFFFF"/>
      </a:lt1>
      <a:dk2>
        <a:srgbClr val="162635"/>
      </a:dk2>
      <a:lt2>
        <a:srgbClr val="DDE6ED"/>
      </a:lt2>
      <a:accent1>
        <a:srgbClr val="67C5C5"/>
      </a:accent1>
      <a:accent2>
        <a:srgbClr val="F3A261"/>
      </a:accent2>
      <a:accent3>
        <a:srgbClr val="7FA8D6"/>
      </a:accent3>
      <a:accent4>
        <a:srgbClr val="A6B3C2"/>
      </a:accent4>
      <a:accent5>
        <a:srgbClr val="D66A4F"/>
      </a:accent5>
      <a:accent6>
        <a:srgbClr val="8FC3B2"/>
      </a:accent6>
      <a:hlink>
        <a:srgbClr val="5B9BD5"/>
      </a:hlink>
      <a:folHlink>
        <a:srgbClr val="C0504D"/>
      </a:folHlink>
    </a:clrScheme>
    <a:fontScheme name="TDA Fonts">
      <a:majorFont>
        <a:latin typeface="Aptos"/>
        <a:ea typeface="Microsoft YaHei"/>
        <a:cs typeface="Arial"/>
      </a:majorFont>
      <a:minorFont>
        <a:latin typeface="Aptos"/>
        <a:ea typeface="Microsoft YaHei"/>
        <a:cs typeface="Arial"/>
      </a:minorFont>
    </a:fontScheme>
    <a:fmtScheme name="TDA Format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9525" cap="flat" cmpd="sng" algn="ctr">
          <a:solidFill>
            <a:schemeClr val="phClr"/>
          </a:solidFill>
        </a:ln>
        <a:ln w="25400" cap="flat" cmpd="sng" algn="ctr">
          <a:solidFill>
            <a:schemeClr val="accent1"/>
          </a:solidFill>
        </a:ln>
        <a:ln w="38100" cap="flat" cmpd="sng" algn="ctr">
          <a:solidFill>
            <a:schemeClr val="accent2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Widescreen</PresentationFormat>
  <Slides>1</Slides>
  <Notes>0</Notes>
  <HiddenSlides>0</HiddenSlides>
  <MMClips>0</MMClips>
  <ScaleCrop>false</ScaleCrop>
  <HeadingPairs>
    <vt:vector size="2" baseType="variant">
      <vt:variant>
        <vt:lpstr>主题</vt:lpstr>
      </vt:variant>
      <vt:variant>
        <vt:i4>1</vt:i4>
      </vt:variant>
    </vt:vector>
  </HeadingPairs>
  <TitlesOfParts>
    <vt:vector size="1" baseType="lpstr">
      <vt:lpstr>TDA-TDP Agent Architecture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TDA-TDP Agent Architecture One Pager</dc:title>
  <dc:creator>OpenAI Codex</dc:creator>
  <cp:lastModifiedBy>OpenAI Codex</cp:lastModifiedBy>
  <dcterms:created xsi:type="dcterms:W3CDTF">2026-03-30T06:34:13Z</dcterms:created>
  <dcterms:modified xsi:type="dcterms:W3CDTF">2026-03-30T06:34:13Z</dcterms:modified>
</cp:coreProperties>
</file>